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4" d="100"/>
          <a:sy n="84" d="100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以下是根據您的 deck_spec.json 內容，撰寫的 Quarto Markdown 格式的簡報稿，適合用於15頁、30分鐘的技術分享會。請將此內容存為 </a:t>
            </a:r>
            <a:r>
              <a:rPr>
                <a:latin typeface="Courier"/>
              </a:rPr>
              <a:t>.qmd</a:t>
            </a:r>
            <a:r>
              <a:rPr/>
              <a:t> 檔案，並用 Quarto 產出PPTX。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---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title:</a:t>
            </a:r>
            <a:r>
              <a:rPr i="1">
                <a:solidFill>
                  <a:srgbClr val="60A0B0"/>
                </a:solidFill>
                <a:latin typeface="Courier"/>
              </a:rPr>
              <a:t> "文字轉 PPTX 簡報系統設計"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author:</a:t>
            </a:r>
            <a:r>
              <a:rPr i="1">
                <a:solidFill>
                  <a:srgbClr val="60A0B0"/>
                </a:solidFill>
                <a:latin typeface="Courier"/>
              </a:rPr>
              <a:t> ""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format:</a:t>
            </a:r>
            <a:r>
              <a:rPr i="1">
                <a:solidFill>
                  <a:srgbClr val="60A0B0"/>
                </a:solidFill>
                <a:latin typeface="Courier"/>
              </a:rPr>
              <a:t> revealjs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---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&lt;!-- 第一頁：標題頁 --&gt;</a:t>
            </a:r>
            <a:br/>
            <a:r>
              <a:rPr>
                <a:solidFill>
                  <a:srgbClr val="06287E"/>
                </a:solidFill>
                <a:latin typeface="Courier"/>
              </a:rPr>
              <a:t># 文字轉 PPTX 簡報系統設計</a:t>
            </a:r>
            <a:br/>
            <a:r>
              <a:rPr>
                <a:solidFill>
                  <a:srgbClr val="06287E"/>
                </a:solidFill>
                <a:latin typeface="Courier"/>
              </a:rPr>
              <a:t>## 技術分享會</a:t>
            </a:r>
            <a:br/>
            <a:br/>
            <a:r>
              <a:rPr>
                <a:latin typeface="Courier"/>
              </a:rPr>
              <a:t>---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&lt;!-- 第二頁：系統需求分析 --&gt;</a:t>
            </a:r>
            <a:br/>
            <a:r>
              <a:rPr>
                <a:solidFill>
                  <a:srgbClr val="06287E"/>
                </a:solidFill>
                <a:latin typeface="Courier"/>
              </a:rPr>
              <a:t>## 系統需求分析</a:t>
            </a:r>
            <a:br/>
            <a:br/>
            <a:r>
              <a:rPr>
                <a:latin typeface="Courier"/>
              </a:rPr>
              <a:t>主要用戶群：開發者、資料分析師  </a:t>
            </a:r>
            <a:br/>
            <a:r>
              <a:rPr>
                <a:latin typeface="Courier"/>
              </a:rPr>
              <a:t>核心功能：將文字內容轉換為 PPTX 簡報  </a:t>
            </a:r>
            <a:br/>
            <a:r>
              <a:rPr>
                <a:latin typeface="Courier"/>
              </a:rPr>
              <a:t>需求範圍：支援多格式文字、支援多版面設計  </a:t>
            </a:r>
            <a:br/>
            <a:br/>
            <a:r>
              <a:rPr b="1">
                <a:solidFill>
                  <a:srgbClr val="FF0000"/>
                </a:solidFill>
                <a:latin typeface="Courier"/>
              </a:rPr>
              <a:t>![需求分析圖示](需求分析圖示.png)</a:t>
            </a:r>
            <a:br/>
            <a:br/>
            <a:r>
              <a:rPr>
                <a:latin typeface="Courier"/>
              </a:rPr>
              <a:t>---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&lt;!-- 第三頁：系統架構總覽 --&gt;</a:t>
            </a:r>
            <a:br/>
            <a:r>
              <a:rPr>
                <a:solidFill>
                  <a:srgbClr val="06287E"/>
                </a:solidFill>
                <a:latin typeface="Courier"/>
              </a:rPr>
              <a:t>## 系統架構總覽</a:t>
            </a:r>
            <a:br/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高層次架構圖：前端輸入、後端處理、輸出模組  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模組簡述：資料預處理、轉換引擎、PPTX 生成  </a:t>
            </a:r>
            <a:br/>
            <a:br/>
            <a:r>
              <a:rPr b="1">
                <a:solidFill>
                  <a:srgbClr val="FF0000"/>
                </a:solidFill>
                <a:latin typeface="Courier"/>
              </a:rPr>
              <a:t>![系統架構圖](系統架構圖.svg)</a:t>
            </a:r>
            <a:br/>
            <a:br/>
            <a:r>
              <a:rPr>
                <a:latin typeface="Courier"/>
              </a:rPr>
              <a:t>---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&lt;!-- 第四頁：核心技術介紹（1） --&gt;</a:t>
            </a:r>
            <a:br/>
            <a:r>
              <a:rPr>
                <a:solidFill>
                  <a:srgbClr val="06287E"/>
                </a:solidFill>
                <a:latin typeface="Courier"/>
              </a:rPr>
              <a:t>## 核心技術介紹（1）</a:t>
            </a:r>
            <a:br/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技術選型：Python、OpenXML SDK、自然語言處理（NLP）  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架構框架：模組化設計、API接口  </a:t>
            </a:r>
            <a:br/>
            <a:br/>
            <a:r>
              <a:rPr b="1">
                <a:solidFill>
                  <a:srgbClr val="FF0000"/>
                </a:solidFill>
                <a:latin typeface="Courier"/>
              </a:rPr>
              <a:t>![技術選型圖](技術選型圖.png)</a:t>
            </a:r>
            <a:br/>
            <a:br/>
            <a:r>
              <a:rPr>
                <a:latin typeface="Courier"/>
              </a:rPr>
              <a:t>---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&lt;!-- 第五頁：核心技術介紹（2） --&gt;</a:t>
            </a:r>
            <a:br/>
            <a:r>
              <a:rPr>
                <a:solidFill>
                  <a:srgbClr val="06287E"/>
                </a:solidFill>
                <a:latin typeface="Courier"/>
              </a:rPr>
              <a:t>## 核心技術介紹（2）</a:t>
            </a:r>
            <a:br/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文字分析與格式化  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使用開源庫（如 python-pptx）  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文字轉換流程圖  </a:t>
            </a:r>
            <a:br/>
            <a:br/>
            <a:r>
              <a:rPr b="1">
                <a:solidFill>
                  <a:srgbClr val="FF0000"/>
                </a:solidFill>
                <a:latin typeface="Courier"/>
              </a:rPr>
              <a:t>![文字轉換流程圖](文字轉換流程圖.png)</a:t>
            </a:r>
            <a:br/>
            <a:br/>
            <a:r>
              <a:rPr>
                <a:latin typeface="Courier"/>
              </a:rPr>
              <a:t>---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&lt;!-- 第六頁：系統流程與工作原理 --&gt;</a:t>
            </a:r>
            <a:br/>
            <a:r>
              <a:rPr>
                <a:solidFill>
                  <a:srgbClr val="06287E"/>
                </a:solidFill>
                <a:latin typeface="Courier"/>
              </a:rPr>
              <a:t>## 系統流程與工作原理</a:t>
            </a:r>
            <a:br/>
            <a:br/>
            <a:r>
              <a:rPr>
                <a:solidFill>
                  <a:srgbClr val="BB6688"/>
                </a:solidFill>
                <a:latin typeface="Courier"/>
              </a:rPr>
              <a:t>1. </a:t>
            </a:r>
            <a:r>
              <a:rPr>
                <a:latin typeface="Courier"/>
              </a:rPr>
              <a:t>使用者上傳文字內容  </a:t>
            </a:r>
            <a:br/>
            <a:r>
              <a:rPr>
                <a:solidFill>
                  <a:srgbClr val="BB6688"/>
                </a:solidFill>
                <a:latin typeface="Courier"/>
              </a:rPr>
              <a:t>2. </a:t>
            </a:r>
            <a:r>
              <a:rPr>
                <a:latin typeface="Courier"/>
              </a:rPr>
              <a:t>系統解析與排版  </a:t>
            </a:r>
            <a:br/>
            <a:r>
              <a:rPr>
                <a:solidFill>
                  <a:srgbClr val="BB6688"/>
                </a:solidFill>
                <a:latin typeface="Courier"/>
              </a:rPr>
              <a:t>3. </a:t>
            </a:r>
            <a:r>
              <a:rPr>
                <a:latin typeface="Courier"/>
              </a:rPr>
              <a:t>生成PPTX檔案並提供下載  </a:t>
            </a:r>
            <a:br/>
            <a:br/>
            <a:r>
              <a:rPr b="1">
                <a:solidFill>
                  <a:srgbClr val="FF0000"/>
                </a:solidFill>
                <a:latin typeface="Courier"/>
              </a:rPr>
              <a:t>![系統流程圖](系統流程圖.svg)</a:t>
            </a:r>
            <a:br/>
            <a:br/>
            <a:r>
              <a:rPr>
                <a:latin typeface="Courier"/>
              </a:rPr>
              <a:t>---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&lt;!-- 第七頁：實作挑戰與解決方案 --&gt;</a:t>
            </a:r>
            <a:br/>
            <a:r>
              <a:rPr>
                <a:solidFill>
                  <a:srgbClr val="06287E"/>
                </a:solidFill>
                <a:latin typeface="Courier"/>
              </a:rPr>
              <a:t>## 實作挑戰與解決方案</a:t>
            </a:r>
            <a:br/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格式一致性問題  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大量資料處理效率  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多樣化排版需求的適應  </a:t>
            </a:r>
            <a:br/>
            <a:br/>
            <a:r>
              <a:rPr b="1">
                <a:solidFill>
                  <a:srgbClr val="FF0000"/>
                </a:solidFill>
                <a:latin typeface="Courier"/>
              </a:rPr>
              <a:t>![挑戰解決方案圖](挑戰解決方案圖.png)</a:t>
            </a:r>
            <a:br/>
            <a:br/>
            <a:r>
              <a:rPr>
                <a:latin typeface="Courier"/>
              </a:rPr>
              <a:t>---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&lt;!-- 第八頁：未來展望與結論 --&gt;</a:t>
            </a:r>
            <a:br/>
            <a:r>
              <a:rPr>
                <a:solidFill>
                  <a:srgbClr val="06287E"/>
                </a:solidFill>
                <a:latin typeface="Courier"/>
              </a:rPr>
              <a:t>## 未來展望與結論</a:t>
            </a:r>
            <a:br/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系統優化：支援多語言、多版面  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AI輔助內容生成  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回顧技術分享重點  </a:t>
            </a:r>
            <a:br/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功能擴充  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多語言支援  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智慧排版  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AI內容生成</a:t>
            </a:r>
            <a:br/>
            <a:br/>
            <a:r>
              <a:rPr>
                <a:latin typeface="Courier"/>
              </a:rPr>
              <a:t>---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&lt;!-- 第九頁：系統架構細節 --&gt;</a:t>
            </a:r>
            <a:br/>
            <a:r>
              <a:rPr>
                <a:solidFill>
                  <a:srgbClr val="06287E"/>
                </a:solidFill>
                <a:latin typeface="Courier"/>
              </a:rPr>
              <a:t>## 系統架構細節</a:t>
            </a:r>
            <a:br/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前端：使用者界面與文字輸入  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後端：資料解析、轉換引擎  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輸出：PPTX檔案產生與下載  </a:t>
            </a:r>
            <a:br/>
            <a:br/>
            <a:r>
              <a:rPr>
                <a:latin typeface="Courier"/>
              </a:rPr>
              <a:t>---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&lt;!-- 第十頁：技術選型原因 --&gt;</a:t>
            </a:r>
            <a:br/>
            <a:r>
              <a:rPr>
                <a:solidFill>
                  <a:srgbClr val="06287E"/>
                </a:solidFill>
                <a:latin typeface="Courier"/>
              </a:rPr>
              <a:t>## 技術選型原因</a:t>
            </a:r>
            <a:br/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Python：彈性與豐富的庫支持  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python-pptx：快速產生PPTX  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NLP工具：文字分析與格式化  </a:t>
            </a:r>
            <a:br/>
            <a:br/>
            <a:r>
              <a:rPr b="1">
                <a:solidFill>
                  <a:srgbClr val="FF0000"/>
                </a:solidFill>
                <a:latin typeface="Courier"/>
              </a:rPr>
              <a:t>![技術選型原因圖](技術選型原因圖.png)</a:t>
            </a:r>
            <a:br/>
            <a:br/>
            <a:r>
              <a:rPr>
                <a:latin typeface="Courier"/>
              </a:rPr>
              <a:t>---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&lt;!-- 第十一頁：文字轉換流程 --&gt;</a:t>
            </a:r>
            <a:br/>
            <a:r>
              <a:rPr>
                <a:solidFill>
                  <a:srgbClr val="06287E"/>
                </a:solidFill>
                <a:latin typeface="Courier"/>
              </a:rPr>
              <a:t>## 文字轉換流程</a:t>
            </a:r>
            <a:br/>
            <a:br/>
            <a:r>
              <a:rPr>
                <a:latin typeface="Courier"/>
              </a:rPr>
              <a:t>文字解析 → 格式化排版 → PPTX內容生成 → 檔案輸出  </a:t>
            </a:r>
            <a:br/>
            <a:br/>
            <a:r>
              <a:rPr b="1">
                <a:solidFill>
                  <a:srgbClr val="FF0000"/>
                </a:solidFill>
                <a:latin typeface="Courier"/>
              </a:rPr>
              <a:t>![文字轉換流程](文字轉換流程.svg)</a:t>
            </a:r>
            <a:br/>
            <a:br/>
            <a:r>
              <a:rPr>
                <a:latin typeface="Courier"/>
              </a:rPr>
              <a:t>---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&lt;!-- 第十二頁：挑戰與解決方案 --&gt;</a:t>
            </a:r>
            <a:br/>
            <a:r>
              <a:rPr>
                <a:solidFill>
                  <a:srgbClr val="06287E"/>
                </a:solidFill>
                <a:latin typeface="Courier"/>
              </a:rPr>
              <a:t>## 挑戰與解決方案</a:t>
            </a:r>
            <a:br/>
            <a:br/>
            <a:r>
              <a:rPr>
                <a:latin typeface="Courier"/>
              </a:rPr>
              <a:t>| 挑戰        | 解決方案                     |</a:t>
            </a:r>
            <a:br/>
            <a:r>
              <a:rPr>
                <a:latin typeface="Courier"/>
              </a:rPr>
              <a:t>|--------------|------------------------------|</a:t>
            </a:r>
            <a:br/>
            <a:r>
              <a:rPr>
                <a:latin typeface="Courier"/>
              </a:rPr>
              <a:t>| 格式一致性  | 使用模板與規則確保排版一致   |</a:t>
            </a:r>
            <a:br/>
            <a:r>
              <a:rPr>
                <a:latin typeface="Courier"/>
              </a:rPr>
              <a:t>| 效率提升    | 採用批次處理與多線程優化     |</a:t>
            </a:r>
            <a:br/>
            <a:r>
              <a:rPr>
                <a:latin typeface="Courier"/>
              </a:rPr>
              <a:t>| 多樣化排版  | 模組化設計支援多版面需求     |</a:t>
            </a:r>
            <a:br/>
            <a:br/>
            <a:r>
              <a:rPr>
                <a:latin typeface="Courier"/>
              </a:rPr>
              <a:t>---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&lt;!-- 第十三頁：系統實作案例 --&gt;</a:t>
            </a:r>
            <a:br/>
            <a:r>
              <a:rPr>
                <a:solidFill>
                  <a:srgbClr val="06287E"/>
                </a:solidFill>
                <a:latin typeface="Courier"/>
              </a:rPr>
              <a:t>## 系統實作案例</a:t>
            </a:r>
            <a:br/>
            <a:br/>
            <a:r>
              <a:rPr>
                <a:latin typeface="Courier"/>
              </a:rPr>
              <a:t>示範一份文字內容轉換成PPTX的完整流程  </a:t>
            </a:r>
            <a:br/>
            <a:br/>
            <a:r>
              <a:rPr b="1">
                <a:solidFill>
                  <a:srgbClr val="FF0000"/>
                </a:solidFill>
                <a:latin typeface="Courier"/>
              </a:rPr>
              <a:t>![實作案例圖](實作案例圖.png)</a:t>
            </a:r>
            <a:br/>
            <a:br/>
            <a:r>
              <a:rPr>
                <a:latin typeface="Courier"/>
              </a:rPr>
              <a:t>---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&lt;!-- 第十四頁：未來發展方向 --&gt;</a:t>
            </a:r>
            <a:br/>
            <a:r>
              <a:rPr>
                <a:solidFill>
                  <a:srgbClr val="06287E"/>
                </a:solidFill>
                <a:latin typeface="Courier"/>
              </a:rPr>
              <a:t>## 未來發展方向</a:t>
            </a:r>
            <a:br/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支援多語言  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整合AI內容生成  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提升處理速度  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用戶界面優化  </a:t>
            </a:r>
            <a:br/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多語言支援  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AI輔助內容產生  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使用者體驗改善  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系統擴充性</a:t>
            </a:r>
            <a:br/>
            <a:br/>
            <a:r>
              <a:rPr>
                <a:latin typeface="Courier"/>
              </a:rPr>
              <a:t>---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&lt;!-- 第十五頁：結論與重點回顧 --&gt;</a:t>
            </a:r>
            <a:br/>
            <a:r>
              <a:rPr>
                <a:solidFill>
                  <a:srgbClr val="06287E"/>
                </a:solidFill>
                <a:latin typeface="Courier"/>
              </a:rPr>
              <a:t>## 結論與重點回顧</a:t>
            </a:r>
            <a:br/>
            <a:br/>
            <a:r>
              <a:rPr>
                <a:latin typeface="Courier"/>
              </a:rPr>
              <a:t>本系統結合最新技術，實現文字到PPTX的自動轉換  </a:t>
            </a:r>
            <a:br/>
            <a:r>
              <a:rPr>
                <a:latin typeface="Courier"/>
              </a:rPr>
              <a:t>未來將持續優化與擴展功能  </a:t>
            </a:r>
            <a:br/>
            <a:r>
              <a:rPr>
                <a:latin typeface="Courier"/>
              </a:rPr>
              <a:t>期待與大家共同進步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使用說明：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請將此 </a:t>
            </a:r>
            <a:r>
              <a:rPr>
                <a:latin typeface="Courier"/>
              </a:rPr>
              <a:t>.qmd</a:t>
            </a:r>
            <a:r>
              <a:rPr/>
              <a:t> 檔案存好後，用 </a:t>
            </a:r>
            <a:r>
              <a:rPr>
                <a:latin typeface="Courier"/>
              </a:rPr>
              <a:t>quarto render yourfile.qmd</a:t>
            </a:r>
            <a:r>
              <a:rPr/>
              <a:t> 產出 PPTX。</a:t>
            </a:r>
          </a:p>
          <a:p>
            <a:pPr lvl="1"/>
            <a:r>
              <a:rPr/>
              <a:t>圖片請放在相同資料夾，並確認檔名與內容一致。</a:t>
            </a:r>
          </a:p>
          <a:p>
            <a:pPr lvl="1"/>
            <a:r>
              <a:rPr/>
              <a:t>如需調整內容或格式，可根據需求修改。</a:t>
            </a:r>
          </a:p>
          <a:p>
            <a:pPr lvl="0" marL="0" indent="0">
              <a:buNone/>
            </a:pPr>
            <a:r>
              <a:rPr/>
              <a:t>若需要加入更多細節或調整排版，請隨時告知！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2026-01-31T07:40:07Z</dcterms:created>
  <dcterms:modified xsi:type="dcterms:W3CDTF">2026-01-31T07:40:07Z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